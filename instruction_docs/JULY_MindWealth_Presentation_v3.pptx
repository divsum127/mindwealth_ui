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1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introduce yourself and MindWealth in 30 seconds. The three numbers are the hook. Let them ask. NOTE: Sharpe updated to 1.19 (N=60 rank-and-evict, hold-original-weight, MTM) per the 20 Jul axiom-compliant re-run — the old 0.79 predates that correction. Fwd Win Rate (~72%) is pending a live gate recompute (two approved short combos have since failed the 60% threshold) — don't over-defend the exact decimal if 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2 minutes here. The architecture is the differentiator — not one signal engine, but three layers that no single quant shop or discretionary macro shop has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not just price and volume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1.19 unleveraged (N=60, rank-and-evict, hold-original-weight, MTM) vs MW's 0.91 leveraged post-fees. Say the caveats before they ask: no portfolio-level bear-market test yet (2024-26 has been a bull window), no transaction cost/capacity adjustment beyond the flat 15bps estimate, and the tightest score thresholds are tested on only a few hundred trades — directional, not final. Fwd Win Rate (72%) and the 19-combo count are both pending a live gate recompute; say so if pressed rather than defending the exact figures. With leverage we'd target a higher Sharpe and CAGR — that's the institutional conversation, once the bear-window and cost work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Combo B is the showstopper stat — but be precise if asked: it's Fed-cycle dependent, not a flat number. Re-validated on 274 mature fires: 65% in late-cutting, 78% in late-hiking, 92% during QE. Strongest exactly when the Fed is expanding the balance sheet or still hiking, weakest right as cutting begins late-cycle — say that proactively, it's a more credible story than one blended number. The anti-Dalio rule is a good anecdote — Oct 13 2022 was the exact market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proof-of-concept slide for Brevan Howard. The regime framework would have been BULLISH on 18 March 2009, 4 January 2019, and 23 March 2020. And BEARISH on 16 March 2022. All four correct directionally.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weight, $100/N per asset, quality score drives replacements not initial build. This is the honest Layer 1 before SSI and Runic overlays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 the roadmap. Be honest — the track record gap is real and they will ask. The answer is: 2 years of forward simulation is the foundation, live paper trading starts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on one point, it should be #3 (three-layer integration) and #4 (dual-gate validation). These are the hardest to replicate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demo offer. The platform is live — showing it live is 10x more powerful than any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48640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MindWealth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72768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891B2"/>
                </a:solidFill>
              </a:rPr>
              <a:t>ALPHA TERMINAL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Quantitative Signal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891B2"/>
                </a:solidFill>
              </a:rPr>
              <a:t>Price Intelligence · Macro Regime · Sentiment Conviction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30175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Assets Tested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30175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Fwd Win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Portfolio Sharpe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Rohit Malhotra  |  Former Structuring Head, European Rates, EM-CEEMEA, ASIAPAC –</a:t>
            </a:r>
            <a:r>
              <a:rPr lang="en-US" sz="800" dirty="0" err="1">
                <a:solidFill>
                  <a:srgbClr val="64748B"/>
                </a:solidFill>
              </a:rPr>
              <a:t>FIC</a:t>
            </a:r>
            <a:r>
              <a:rPr lang="en-US" sz="800" err="1">
                <a:solidFill>
                  <a:srgbClr val="64748B"/>
                </a:solidFill>
              </a:rPr>
              <a:t>&amp;</a:t>
            </a:r>
            <a:r>
              <a:rPr lang="en-US" sz="800">
                <a:solidFill>
                  <a:srgbClr val="64748B"/>
                </a:solidFill>
              </a:rPr>
              <a:t>EQUITIES— </a:t>
            </a:r>
            <a:r>
              <a:rPr lang="en-US" sz="800" dirty="0">
                <a:solidFill>
                  <a:srgbClr val="64748B"/>
                </a:solidFill>
              </a:rPr>
              <a:t>Deutsche Bank  |  Confidential  |  July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 three-layer systematic platform — each layer independently valuable, more powerful in combination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E0F4F9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088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 Signal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3560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11 proprietary signal functions across trend, mean-reversion, and trend-anticipating regimes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Processes price, volume, and their 1st &amp; 2nd derivatives (rate of change + acceleration)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179 assets: US equities, sector ETFs, bond ETFs, FX, crypto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Buy AND sell signals with asymmetric rules reflecting equity market drift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Dual-gate validation: BT win rate ≥70% + FWD win rate ≥60% per function/interval/direction combo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FDF6DC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502920" cy="5029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Runic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76148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Tracks 12 macro variables across 298 combinations (12C1 + 12C2 + 12C3) — weekly cadence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7 named regime combos A–G — hit rates are regime-dependent, not a single band (see Macro Runic slide)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Six regime dimensions: FY-CVT — Fed cycle, Yield curve, Credit, Valuation, Trend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Percentile-rank based (3yr rolling) — distribution-agnostic, robust to fat tails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Nightly JSON briefing with historical analogues, regime score, and dominant signal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675888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EEF2F7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739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SuperIndex + Conviction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08736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SSI aggregates AAII, CFTC, CNN Fear &amp; Greed, VIX term structure, GEX, COT TFF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Conviction Engine scores equities across 15 dimensions to modify position sizing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Together govern capital deployment: how much of the $100 is deployed vs held in cash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Layer 1 runs without these — they are performance enhancement overlays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11 proprietary functions  ·  5 time intervals  ·  Long &amp; short  ·  Up to 110 function/interval/direction combos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Function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77840" y="896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Type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TrendPulse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50992" y="1271016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50992" y="12710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540764"/>
            <a:ext cx="859536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540764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Altitude Alpha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50992" y="160477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50992" y="16047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Trend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874520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874520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DeltaDrift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1938528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50992" y="19385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Mean Rev.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08276"/>
            <a:ext cx="859536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208276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OscillatorDelta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50992" y="2272284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50992" y="22722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Mean Rev.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542032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542032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SigmaShell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2606040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50992" y="2606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Statistical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875788"/>
            <a:ext cx="859536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2875788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Band Matrix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50992" y="2939796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50992" y="29397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Statistical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209544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209544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FractalTrack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50992" y="3273552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50992" y="32735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Anticipating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543300"/>
            <a:ext cx="859536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543300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F-Stack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50992" y="3607308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50992" y="36073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Anticipating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877056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3877056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BaselineDivergence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50992" y="3941064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50992" y="39410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Anticipating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210812"/>
            <a:ext cx="859536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040" y="4210812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PulseGauge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50992" y="4274820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50992" y="42748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Anticipating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544568"/>
            <a:ext cx="8595360" cy="315468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4544568"/>
            <a:ext cx="5029200" cy="3154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Signal Breadth (SBI)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50992" y="4608576"/>
            <a:ext cx="1051560" cy="201168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50992" y="46085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Breadth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Dual-Gate Validated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Out-of-sample forward simulation  ·  Equal-weight  ·  Unleveraged  ·  Pre-fees  ·  US-listed assets  ·  ~2 years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Sharpe (N=60, MTM)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828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N=60 rank-and-evict, MTM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D4AF3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96312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Portfolio CAGR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96312" y="1828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Equal-weight, no leverage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45152" y="9601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72%*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45152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Fwd Win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5152" y="1828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*pending live gate recompute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93992" y="9601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19*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93992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Model-Approved Combos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3992" y="1828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*2 shorts have since failed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233172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EE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Dual-Gate Validation Framework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GATE 1 — Backtest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</a:rPr>
              <a:t>≥70% Win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1363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Per function / asset / interval / direction. Admission ticket. Removes noise combos.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4048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GATE 2 — Forward Test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3886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1B2A"/>
                </a:solidFill>
              </a:rPr>
              <a:t>≥60% Win 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422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Out-of-sample, 2-year simulation. System-level circuit breaker. Tests real edge.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81728" y="233172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24231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in Context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281635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1.19 is unleveraged, pre-fees, N=60 rank-and-evict, hold-original-weight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31363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AQR / Two Sigma / DE Shaw diversified systematic: 0.6–1.0 typical at scale, on a leveraged basis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345643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MW Eureka Fund since inception Sharpe: 0.91 — leveraged 2.3x, post-fees, 17-year track record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377647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Not yet shown: bear-market drawdown, cost/capacity at scale, or OOS at the tightest thresholds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409651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Diversification benefit: ~40 independent annual signal bets across 179 assets — breadth amplifies edge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8032" y="441655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D1B2A"/>
                </a:solidFill>
              </a:rPr>
              <a:t>Net long fund (~80% net): Sharpe comparable to long/short peers, not market-neutral — context matters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" y="480060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Estimated real-world net cost impact: ~0 p.a. Transaction cost drag (~1.0%) offset by short rebate at Fed Funds 3.63% and avg hold &gt;4 months. ETF fees embedded in price.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Runic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12 variables  ·  298 combinations  ·  7 named regime combos  ·  Nightly JSON briefing  ·  6 regime dimensions: FY-CVT  ·  "Avg Return" = SPX's own forward move over the horizon, not a spread vs a benchmark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Combo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" y="1005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Name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60520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Direction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Hit Rate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Avg Return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Horizon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52728"/>
            <a:ext cx="850392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307592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380744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380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1307592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 Liquidity / FCI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307592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BULL/BEAR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66360" y="130759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~78%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130759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+12% / −8%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30759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3–6m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700784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1773936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1773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1700784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Maximum Capitulation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1700784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BULLISH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66360" y="170078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65–92%*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170078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+14% avg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170078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093976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2167128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2167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2093976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Stagflation / Energy Shock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2093976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BEARISH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66360" y="209397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~83%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093976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Neg 1–6m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209397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1–6m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487168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2560320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2487168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VIX Term Structure Inversion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2487168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BEARISH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66360" y="248716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~28%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2487168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Regime dep.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248716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1–3m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2880360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7472" y="2953512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2953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" y="2880360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Positioning Extreme / Valuation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60520" y="2880360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BEARISH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66360" y="288036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~73%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0" y="2880360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−5% to −15%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288036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Open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273552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47472" y="3346704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" y="33467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" y="3273552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Credit Recovery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60520" y="3273552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BULLISH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66360" y="327355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~85%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17920" y="327355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+8–12% avg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327355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26wk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3666744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47472" y="3739896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47472" y="3739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" y="3666744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Multi-Stress Convergence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160520" y="3666744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BEARISH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166360" y="366674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Highest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17920" y="366674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Extreme neg.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772400" y="366674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Var.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4142232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7200" y="4187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</a:rPr>
              <a:t>Priority Stack: G → C → B → E → D → F → 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44256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Dominant signal = highest priority active combo. Combo B bypasses VIX multiplier. *Fed-cycle dependent — see next slide.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577840" y="4142232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715000" y="41879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Currently Active (July 2026)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715000" y="4425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Combo F (Credit Recovery) · Combo E partial (CAPE 99th pctile) · Regime: TACTICAL BULLISH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Validation of the Regime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298 macro variables scanned combinatorially  ·  298 → 52 unique fire-date episodes  ·  8 themed representative combos  ·  2 reproduce hand-built Combos independently  ·  pending Divyanshu's point-in-time confirmation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Rank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" y="1005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Theme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60520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Signature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3m Hit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Status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252728"/>
            <a:ext cx="8503920" cy="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307592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" y="1380744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3807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1307592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Fed puts the curve under stress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307592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CURVE+WALCL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66360" y="130759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84.9%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130759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73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30759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700784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1773936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1773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1700784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 fear washout (2015–2022)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1700784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CNH+VIX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66360" y="170078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88.5%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170078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170078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093976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2167128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2167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2093976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Commodity reflation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2093976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CNH+GSR+WTI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66360" y="209397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93.3%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093976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2093976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= Combo 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487168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2560320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2487168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Complacency pop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2487168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CFTC+VIX+VXTS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66360" y="248716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100%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2487168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2487168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= Combo D/G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2880360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7472" y="2953512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2953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" y="2880360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Valuation melt-up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60520" y="2880360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CAPE+VIX+VXTS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66360" y="288036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87.0%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0" y="2880360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2880360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273552"/>
            <a:ext cx="8595360" cy="374904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47472" y="3346704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" y="33467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4672" y="3273552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Stagflation scare → easing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60520" y="3273552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CURVE+GSR+WALCL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66360" y="327355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85.2%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17920" y="3273552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3273552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3666744"/>
            <a:ext cx="8595360" cy="374904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47472" y="3739896"/>
            <a:ext cx="274320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47472" y="3739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" y="3666744"/>
            <a:ext cx="3291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 stress + curve liquidity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160520" y="3666744"/>
            <a:ext cx="960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CNH+CURVE+WALCL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166360" y="366674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87.0%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17920" y="3666744"/>
            <a:ext cx="1508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23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772400" y="3666744"/>
            <a:ext cx="914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New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4142232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7200" y="4187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</a:rPr>
              <a:t>Funnel: 298 vars → 62 promoted → 52 episodes → 8 themes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44256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 of 7 were found blind to our A–G framework and exactly reproduce Combos D/G and F — strong validation.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577840" y="4142232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715000" y="41879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Cross-Validation, Not New Rules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715000" y="4425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Diagnostic overlays on model confidence — not new entry/exit triggers.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Validation — Combo A: S&amp;P 500 Forward Returns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Combo A (Global Liquidity / FCI Regime) — Bullish leg: Fed easing + HY tightening + WALCL expanding + CNH stable. Hit rate ~78%, avg +12% 3–6m.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75438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Trigger 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SPX Level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+12m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GFC QE1 Announcement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18-Mar-2009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778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+8.5%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+21.3%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+39.0%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+55.4%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+56.1%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+69.5%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Fed Pivot — Powell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04-Jan-2019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2,476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+7.9%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+11.1%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+14.8%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+17.3%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+22.6%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+28.9%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COVID QE — Emergency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23-Mar-2020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2,237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+26.4%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+36.6%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+39.5%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+51.4%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+57.1%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+75.3%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Rate Hike Onset — BEARISH leg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16-Mar-2022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</a:rPr>
                        <a:t>4,411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+3.6%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−5.2%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−13.3%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−16.0%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−15.5%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−16.1%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0F4F9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9136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Note on return data: </a:t>
            </a:r>
            <a:r>
              <a:rPr lang="en-US" sz="850" dirty="0">
                <a:solidFill>
                  <a:srgbClr val="0D1B2A"/>
                </a:solidFill>
              </a:rPr>
              <a:t>GFC QE1 (Mar 2009) and COVID QE (Mar 2020) represent Combo A Bullish leg — all conditions firing simultaneously. Rate Hike Onset (Mar 2022) represents Combo A Bearish leg. Fed Pivot (Jan 2019) is Powell's U-turn speech. SPX levels and forward returns sourced from public market data. Returns are price-only, not total return. Exact Combo A trigger dates to be validated against live engine output — dates shown represent the regime change events that would have triggered the combo under current threshold rules.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Construction — Layer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Simple, auditable, institutional-grade. No optimisation. No leverage. Equal weight.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84582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09728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Phase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62456"/>
            <a:ext cx="7543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Portfolio starts empty. $100 in cash.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Admit gated signals (&gt;60% FWD WR) chronologically until N assets reached (N = 60 or 80 — determined by optimal Sharpe analysis)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Each new asset: allocate $100/N from available cash. Existing positions unchanged.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No quality score threshold during build — all gated signals admitted in order of arrival.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2286000"/>
            <a:ext cx="84582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D4AF3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423160"/>
            <a:ext cx="502920" cy="5029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59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 — Replacement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88336"/>
            <a:ext cx="7543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Long exit → slot freed → scan available gated signals not in portfolio → admit highest C1–C4 quality score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Short exit → return borrowed stock → same replacement process as long exit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Replacement can be long or short — direction determined by signal engine, not forced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If no signal available → hold cash temporarily. Never force a signal to fill a slot.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Same asset, new signal: if already long + new short fires → EXIT long, free slot, replace.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611880"/>
            <a:ext cx="84582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74904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685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14216"/>
            <a:ext cx="7543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Gross exposure = (longs + shorts) × $100/N  →  target $100 at full deployment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Net exposure = (longs − shorts) × $100/N  →  expected ~+$80 at current ~90/10 long/short mix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This is a NET LONG systematic fund — not market neutral. State explicitly in all materials.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No leverage. Short proceeds held as collateral at prime broker — not redeployed.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B2A"/>
                </a:solidFill>
              </a:rPr>
              <a:t>Cash = zero at full deployment. Only exists during build or brief exit/replacement gaps.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Platform &amp;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Operational today  ·  51.20.53.218:8512  ·  Nightly briefings  ·  Real-time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845820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08813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88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92 Active Signals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Live dashboard with outstanding signals, new signals, exit alerts by function / asset / interval / direction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618488"/>
            <a:ext cx="845820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74650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655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Nightly JSON Briefing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892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Macro regime classification, active combos, historical analogues, regime-adjusted hit rates, dominant signal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276856"/>
            <a:ext cx="845820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240487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AI Analyst Chatbot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5511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Claude Sonnet with Tavily web search — queries the live trade store and regime engine in natural language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935224"/>
            <a:ext cx="845820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06324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Signal Quality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209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C1–C4 composite: expected return normalised by asset class, signal alpha, asymmetric Sharpe cap — drives replacement priority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593592"/>
            <a:ext cx="845820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9525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372160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Forward Simulation Record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8679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2+ years, 5,800+ trades, 19 gated combos, equal-weight — monthly NAV series in preparation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279392"/>
            <a:ext cx="8458200" cy="685800"/>
          </a:xfrm>
          <a:prstGeom prst="roundRect">
            <a:avLst>
              <a:gd name="adj" fmla="val 10667"/>
            </a:avLst>
          </a:prstGeom>
          <a:solidFill>
            <a:srgbClr val="1A3A5C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325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</a:rPr>
              <a:t>Roadmap: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43251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Monthly NAV series (in progress)  ·  Optimal portfolio size analysis  ·  Regime-gated deployment (Runic → sizing)  ·  Inverse-vol position weighting  ·  Live audited track record  ·  Fund structure (Cayman / UCITS)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Single biggest gap acknowledged: live audited track record. Every month of additional clean forward data materially strengthens the institutional case.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— What Sets This Apart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80467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4632" y="93268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896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Price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2801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fundamental data, no analyst consensus, no earnings. Price and volume — plus their first and second derivatives. Applicable across any asset class without modification.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81728" y="80467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18888" y="93268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0096" y="896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Signal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2801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Long and short triggers are deliberately different. Equity drift is structural — applying symmetric rules to both directions generates excess false shorts. Most quant engines don't do this.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22199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" y="235000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26974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Quant signals + macro regime + sentiment conviction. Discretionary macro shops have the macro view but no systematic signal engine. Pure quant funds have signals but no macro overlay. We have both.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81728" y="222199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18888" y="235000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0096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Dual-Gate Out-of-Sample 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6974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Two independent filters — BT WR ≥70% and FWD WR ≥60% — on every function/interval/direction combo. The 2-year forward simulation is methodologically equivalent to walk-forward analysis per Pardo and López de Prado.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63931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" y="376732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Queryable Live Trade History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41148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Every signal — entry date, exit date, function, asset, interval, direction, return — is queryable in real time. No black box. Allocators can interrogate individual combo performance.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81728" y="3639312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18888" y="376732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0096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Regime-Aware Capital 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8888" y="41148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Combo B (Max Capitulation) bypasses VIX size multiplier — anti-Dalio Oct 2022 rule. Combo G priority overrides all. The model knows when not to listen to itself.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365760"/>
            <a:ext cx="1463040" cy="1463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0" y="365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MindWealth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</a:rPr>
              <a:t>Systematic Alpha  ·  Macro Intelligence  ·  Sentiment Precision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Live platform walkthrough — dashboard, signals, Runic regime,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3182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Forward simulation record — full 2-year monthly NAV and performance statistics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3529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Optimal portfolio construction analysis — Sharpe by portfolio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877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Discuss collaboration structure — licensing, advisory, co-investment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Rohit Malhotra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Former Head, European Rates Structuring · APAC Head · EM Head — Deutsche Bank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26704</TotalTime>
  <Words>2597</Words>
  <Application>Microsoft Macintosh PowerPoint</Application>
  <PresentationFormat>On-screen Show (16:9)</PresentationFormat>
  <Paragraphs>335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MindWealth — Systematic Alpha Platform</dc:title>
  <dc:subject>PptxGenJS Presentation</dc:subject>
  <dc:creator>PptxGenJS</dc:creator>
  <cp:lastModifiedBy>Family M-M</cp:lastModifiedBy>
  <cp:revision>2</cp:revision>
  <dcterms:created xsi:type="dcterms:W3CDTF">2026-07-02T10:02:04Z</dcterms:created>
  <dcterms:modified xsi:type="dcterms:W3CDTF">2026-07-21T05:57:18Z</dcterms:modified>
</cp:coreProperties>
</file>